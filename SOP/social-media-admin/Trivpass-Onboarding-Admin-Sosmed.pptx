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554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D3A"/>
                </a:solidFill>
                <a:latin typeface="Fraunces"/>
              </a:rPr>
              <a:t>trivpass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5648" y="475488"/>
            <a:ext cx="1828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2603E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38404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2603E"/>
                </a:solidFill>
                <a:latin typeface="Inter"/>
              </a:rPr>
              <a:t>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12848"/>
            <a:ext cx="694944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D1D1B"/>
                </a:solidFill>
                <a:latin typeface="Fraunces"/>
              </a:rPr>
              <a:t>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1800"/>
            <a:ext cx="66751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D6A62"/>
                </a:solidFill>
                <a:latin typeface="Inter"/>
              </a:rPr>
              <a:t>Panduan kerja, brand, standar konten, dan dasar Meta Ads untuk Instagram &amp; Facebook Trivpass.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44768"/>
            <a:ext cx="54864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PT Taman Juada Legian · Operasional · v1.1 ·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SELAMAT DATANG DI 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Peran kamu dalam satu kalimat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57400"/>
            <a:ext cx="10332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1D1B"/>
                </a:solidFill>
                <a:latin typeface="Inter"/>
              </a:rPr>
              <a:t>Kamu menjaga suara, tampilan, dan eksekusi dasar Trivpass di Instagram, Facebook, dan Meta Ads - supaya calon traveler percaya sebelum mereka memesan.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063240"/>
            <a:ext cx="3429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22783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Yang kamu pegang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648456"/>
            <a:ext cx="2990088" cy="12252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Kalender konten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Post, carousel, reel, story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DM &amp; komentar tahap awal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Draft ads dan report bulanan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063240"/>
            <a:ext cx="3429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22783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Yang kamu jaga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648456"/>
            <a:ext cx="2990088" cy="12252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Brand voice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3 warna brand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No-faces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CTA dan klaim yang benar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3063240"/>
            <a:ext cx="3429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322783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Cara kerja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648456"/>
            <a:ext cx="2990088" cy="12252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Lapor ke Owner / Operasional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Harga, klaim, budaya, dan ads wajib approve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Konsistensi &gt; kreasi bebas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KONTEKS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Apa itu Trivpass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57400"/>
            <a:ext cx="107899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D1D1B"/>
                </a:solidFill>
                <a:latin typeface="Inter"/>
              </a:rPr>
              <a:t>Travel agency untuk Bali yang menghapus calo antara traveler dan operator: driver yang kami vetting &amp; kontrak sendiri, harga all-in, support Seminyak, dan pengalaman budaya yang dikurasi hati-hati. Pertahanannya ada di model operasi - bukan di software.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246120"/>
            <a:ext cx="34290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41071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Real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831335"/>
            <a:ext cx="2990088" cy="722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Driver internal yang kami vetting &amp; kontrak - bukan jemputan acak.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246120"/>
            <a:ext cx="34290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41071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Real prices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831335"/>
            <a:ext cx="2990088" cy="722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Harga all-in yang dirinci: driver, tiket, bensin, parkir, pajak.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3246120"/>
            <a:ext cx="34290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341071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No surprises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831335"/>
            <a:ext cx="2990088" cy="722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Ops 24/7 + detail driver sebelum pickup. Traveler tahu siapa &amp; jam berapa.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LENSA STRATEGI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Mayoritas konten membangun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961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D6A62"/>
                </a:solidFill>
                <a:latin typeface="Inter"/>
              </a:rPr>
              <a:t>3 kecemasan ini adalah panduan, bukan aturan kaku untuk setiap post.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3429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31343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Takut kena scam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734056"/>
            <a:ext cx="2660904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Dijawab oleh driver roster: driver internal, di-vetting, bukan jemputan acak aplikasi gig.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429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1343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Takut kemahalan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734056"/>
            <a:ext cx="2660904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Dijawab oleh harga all-in yang dirinci: driver, tiket, bensin, parkir, pajak, biaya layanan.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2168" y="2148840"/>
            <a:ext cx="3429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23317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231343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Takut booking gagal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6" y="2734056"/>
            <a:ext cx="2660904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Dijawab oleh ops 24/7 + email perkenalan driver: siapa yang menjemput, dan jam berapa.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09160"/>
            <a:ext cx="11064240" cy="658368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873752"/>
            <a:ext cx="10607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4D3A"/>
                </a:solidFill>
                <a:latin typeface="Inter"/>
              </a:rPr>
              <a:t>Gunakan lensa ini terutama untuk trust-building, product post, FAQ, dan ads. Konten budaya, route idea, atau seasonal education boleh lebih natural selama tetap spesifik dan tidak overclaim.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CARA TRIVPASS BICARA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Brand voice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93392"/>
            <a:ext cx="10424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1D1B"/>
                </a:solidFill>
                <a:latin typeface="Inter"/>
              </a:rPr>
              <a:t>Seperti teman lokal yang paham teknologi, sudah 10 tahun di bidang ini, dan tidak akan menjual berlebihan - tenang, spesifik, transparan, sesekali datar.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34640"/>
            <a:ext cx="5257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9923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1 · Mulai dari kebutuhan traveler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19856"/>
            <a:ext cx="4818888" cy="265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Mulai dari pertanyaan, situasi, atau risiko traveler. Cerita Trivpass jadi pendukung.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834640"/>
            <a:ext cx="5257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9923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2 · Spesifik - angka &amp; nama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3419856"/>
            <a:ext cx="4818888" cy="265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Pakai jam, durasi, harga, wilayah, dan proses. Kata sifat harus kalah dari detail.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160520"/>
            <a:ext cx="5257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32511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3 · Itemize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745736"/>
            <a:ext cx="4818888" cy="265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Harga, inclusions, exclusions, dan refund window dirinci. Transparansi itu layout.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160520"/>
            <a:ext cx="5257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432511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4 · Jangan jual yang tak bisa dikirim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4745736"/>
            <a:ext cx="4818888" cy="265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Bukan 'magical sunrise', tapi 'pickup 03:30, summit 06:15, turun 09:00'.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DISIPLIN BAHASA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Kata yang dipakai - dan yang dilarang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57400"/>
            <a:ext cx="4204411" cy="594360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71339" y="2057400"/>
            <a:ext cx="6859828" cy="594360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57984"/>
            <a:ext cx="3948379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B"/>
                </a:solidFill>
                <a:latin typeface="Inter"/>
              </a:rPr>
              <a:t>Pakai 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7643" y="2157984"/>
            <a:ext cx="6603796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D1D1B"/>
                </a:solidFill>
                <a:latin typeface="Inter"/>
              </a:rPr>
              <a:t>Jangan pernah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51760"/>
            <a:ext cx="4204411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71339" y="2651760"/>
            <a:ext cx="6859828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52344"/>
            <a:ext cx="3948379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Verified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7643" y="2752344"/>
            <a:ext cx="6603796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"Book now" -&gt; pakai CTA Trivpass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46120"/>
            <a:ext cx="4204411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71339" y="3246120"/>
            <a:ext cx="6859828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346703"/>
            <a:ext cx="3948379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All-in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7643" y="3346703"/>
            <a:ext cx="6603796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"Premium" / "Luxury" / "World-class"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40480"/>
            <a:ext cx="4204411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71339" y="3840480"/>
            <a:ext cx="6859828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941064"/>
            <a:ext cx="3948379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From IDR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7643" y="3941064"/>
            <a:ext cx="6603796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"Authentic" / "Hidden gem" / "Bucket list"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434840"/>
            <a:ext cx="4204411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71339" y="4434840"/>
            <a:ext cx="6859828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35424"/>
            <a:ext cx="3948379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IDR 100.000 ke host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7643" y="4535424"/>
            <a:ext cx="6603796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"Once-in-a-lifetime" / "Don't miss out"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029200"/>
            <a:ext cx="4204411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71339" y="5029200"/>
            <a:ext cx="6859828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129784"/>
            <a:ext cx="3948379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24/7 ops in Seminyak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7643" y="5129784"/>
            <a:ext cx="6603796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"#1 in Bali" / "Hassle-free" / klaim tanpa bukti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SISTEM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Tiga warna. Dua font. Tanpa kompromi.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3429000" cy="1051560"/>
          </a:xfrm>
          <a:prstGeom prst="rect">
            <a:avLst/>
          </a:prstGeom>
          <a:solidFill>
            <a:srgbClr val="1F4D3A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359152"/>
            <a:ext cx="29718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#1F4D3A
Jungle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429000"/>
            <a:ext cx="30632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Logo, CTA, status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48840"/>
            <a:ext cx="3429000" cy="1051560"/>
          </a:xfrm>
          <a:prstGeom prst="rect">
            <a:avLst/>
          </a:prstGeom>
          <a:solidFill>
            <a:srgbClr val="C2603E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59152"/>
            <a:ext cx="29718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#C2603E
Terracotta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429000"/>
            <a:ext cx="30632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Harga, rating, scarcity - sinyal, bukan tombol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2168" y="2148840"/>
            <a:ext cx="3429000" cy="1051560"/>
          </a:xfrm>
          <a:prstGeom prst="rect">
            <a:avLst/>
          </a:prstGeom>
          <a:solidFill>
            <a:srgbClr val="FAF7F2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2359152"/>
            <a:ext cx="29718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1D1B"/>
                </a:solidFill>
                <a:latin typeface="Inter"/>
              </a:rPr>
              <a:t>#FAF7F2
Warm Off-White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3429000"/>
            <a:ext cx="30632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Background dasar semua halaman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15968"/>
            <a:ext cx="106070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D1D1B"/>
                </a:solidFill>
                <a:latin typeface="Inter"/>
              </a:rPr>
              <a:t>Kuota: ~85% canvas + teks · &lt;=3% Jungle Green · &lt;=2% Terracotta. Tanpa warna keempat, tanpa hitam/putih murni, tanpa gradient/bayangan dekoratif.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74920"/>
            <a:ext cx="98755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4D3A"/>
                </a:solidFill>
                <a:latin typeface="Inter"/>
              </a:rPr>
              <a:t>Fraunces untuk judul/headline · Inter untuk body, harga, tanggal, semua angka.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ATURAN TERKUNCI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Lima hal yang tidak bisa ditawar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2603E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1D1B"/>
                </a:solidFill>
                <a:latin typeface="Inter"/>
              </a:rPr>
              <a:t>Logo di paling atas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29968"/>
            <a:ext cx="66751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Mark jungle-green + 'trivpass' serif kecil + titik terracotta.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16352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2603E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1D1B"/>
                </a:solidFill>
                <a:latin typeface="Inter"/>
              </a:rPr>
              <a:t>Tanpa wajah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16352"/>
            <a:ext cx="66751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Orang dari belakang / siluet / tangan boleh. Tidak ada pose influencer.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02736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2603E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1D1B"/>
                </a:solidFill>
                <a:latin typeface="Inter"/>
              </a:rPr>
              <a:t>Hanya 3 warna 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02736"/>
            <a:ext cx="66751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Off-white, jungle-green, terracotta. Tidak ada warna keempat.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2603E"/>
                </a:solidFill>
                <a:latin typeface="Inter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1D1B"/>
                </a:solidFill>
                <a:latin typeface="Inter"/>
              </a:rPr>
              <a:t>Foto hangat, tidak glossy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89120"/>
            <a:ext cx="66751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Sedikit desaturasi. Tanpa HDR, gradient, atau shadow dekoratif.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75504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2603E"/>
                </a:solidFill>
                <a:latin typeface="Inter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75504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1D1B"/>
                </a:solidFill>
                <a:latin typeface="Inter"/>
              </a:rPr>
              <a:t>AI image sementara boleh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175504"/>
            <a:ext cx="66751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D6A62"/>
                </a:solidFill>
                <a:latin typeface="Inter"/>
              </a:rPr>
              <a:t>Harus terlihat nyata, dokumenter, no-faces. Target jangka panjang: foto asli.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APA YANG KITA POSTING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Enam pilar konten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84831"/>
            <a:ext cx="3429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49424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Bali Travel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70048"/>
            <a:ext cx="29900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Tips praktis, checklist, hal yang harus dihindari saat merencanakan Bali.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84831"/>
            <a:ext cx="3429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249424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Trust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670048"/>
            <a:ext cx="29900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Driver vetting, ops 24/7, refund - bukti, bukan klaim.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1311" y="2084831"/>
            <a:ext cx="3429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2249424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Brand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2670048"/>
            <a:ext cx="29900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Siapa Trivpass, model all-in, kenapa beda dari OTA.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57600"/>
            <a:ext cx="3429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22191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Tour Packages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242816"/>
            <a:ext cx="29900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Spotlight tour: rute, jam, yang termasuk, harga hero.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657600"/>
            <a:ext cx="3429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3822191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Activities &amp; Attractions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242816"/>
            <a:ext cx="29900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Tiket atraksi, harga transparan, add-on driver opsional.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1311" y="3657600"/>
            <a:ext cx="3429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3822191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Cultural Literacy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4242816"/>
            <a:ext cx="29900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Penjelasan upacara &amp; istilah Bali - edukasi, bukan dorongan booking.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DISIPLIN AJAKAN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CTA: lembut saat awareness, langsung saat produk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11064240" cy="658368"/>
          </a:xfrm>
          <a:prstGeom prst="rect">
            <a:avLst/>
          </a:prstGeom>
          <a:solidFill>
            <a:srgbClr val="1F4D3A"/>
          </a:solidFill>
          <a:ln w="9525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76856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CTA utama produk: "Secure Your Driver &amp; Tickets"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46120"/>
            <a:ext cx="5257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41071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Soft CTA -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31335"/>
            <a:ext cx="4818888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Save post ini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Follow untuk tips Bali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DM pertanyaan kamu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Comment bulan rencana liburanmu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246120"/>
            <a:ext cx="5257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341071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Direct CTA - produk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3831335"/>
            <a:ext cx="4818888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Atraksi/tiket -&gt; Secure Your Tickets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Tour + driver -&gt; Secure Your Driver &amp; Tickets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Event budaya -&gt; Reserve Your Spot bila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349240"/>
            <a:ext cx="10607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2603E"/>
                </a:solidFill>
                <a:latin typeface="Inter"/>
              </a:rPr>
              <a:t>Tidak pernah: "Book now" / "Reserve" / "Get started" di copy Trivpass, kecuali label platform Meta memaksa.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ALUR PRODUKSI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Tiga langkah kerja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34290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3317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31343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Susun perencanaan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734056"/>
            <a:ext cx="2660904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Kembangkan content plan bulan berjalan jadi rencana: tanggal, format, pilar, hook, CTA, dan status.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48840"/>
            <a:ext cx="34290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31343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Preview &amp;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734056"/>
            <a:ext cx="2660904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Kirim preview ke Owner. Harga, klaim, budaya, produk baru, dan ads selalu tunggu approval.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2168" y="2148840"/>
            <a:ext cx="34290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3317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31343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Revisi &amp; posting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2734056"/>
            <a:ext cx="2660904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Satu round revisi, lalu posting/jadwalkan di IG utama + cross-post Facebook.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28032"/>
            <a:ext cx="10789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4D3A"/>
                </a:solidFill>
                <a:latin typeface="Inter"/>
              </a:rPr>
              <a:t>File post disimpan di content/{tahun}/{bulan}/{tgl}-{judul}/. Status: draft -&gt; needs asset -&gt; ready -&gt; blocked -&gt; posted.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META 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Ruang lingkup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961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D6A62"/>
                </a:solidFill>
                <a:latin typeface="Inter"/>
              </a:rPr>
              <a:t>Admin boleh menjalankan eksekusi dasar, tapi keputusan besar tetap milik Owner.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3429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1343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Boleh dilakukan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34056"/>
            <a:ext cx="2990088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Draft copy &amp; creative ads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Audience idea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Campaign plan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Screenshot hasil &amp; report bulanan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48840"/>
            <a:ext cx="3429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31343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Butuh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734056"/>
            <a:ext cx="2990088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Campaign sebelum live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Budget &amp; perubahan budget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Target market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Harga, promo, klaim, landing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2148840"/>
            <a:ext cx="3429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313432"/>
            <a:ext cx="29900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Tidak boleh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734056"/>
            <a:ext cx="2990088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Angle diskon murahan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Countdown palsu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Overclaim cultural events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Ubah campaign besar tanpa izin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00600"/>
            <a:ext cx="1088136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2603E"/>
                </a:solidFill>
                <a:latin typeface="Inter"/>
              </a:rPr>
              <a:t>Produk aman untuk ads awal: Tour Packages dan Activities &amp; Attractions. Cultural Events hanya dipromosikan sebagai edukasi sampai status live dikonfirmasi.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ADS YANG DIPELAJARI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Roadmap iklan Trivpass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84831"/>
            <a:ext cx="3097987" cy="694944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64915" y="2084831"/>
            <a:ext cx="7966252" cy="694944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85415"/>
            <a:ext cx="2841955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B"/>
                </a:solidFill>
                <a:latin typeface="Inter"/>
              </a:rPr>
              <a:t>Fase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1219" y="2185415"/>
            <a:ext cx="77102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D1D1B"/>
                </a:solidFill>
                <a:latin typeface="Inter"/>
              </a:rPr>
              <a:t>Yang dipelajari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79776"/>
            <a:ext cx="309798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64915" y="2779776"/>
            <a:ext cx="796625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880360"/>
            <a:ext cx="2841955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0 ·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1219" y="2880360"/>
            <a:ext cx="77102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Business Suite, pixel/dataset, domain, event, payment, UTM. Tidak spend sebelum setup jelas.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309798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64915" y="3474720"/>
            <a:ext cx="796625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575303"/>
            <a:ext cx="2841955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1 · Warm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1219" y="3575303"/>
            <a:ext cx="77102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Engagement/Traffic. Creative: brand intro, driver vetting, transparent pricing. Cari angle terbaik.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69664"/>
            <a:ext cx="309798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64915" y="4169664"/>
            <a:ext cx="796625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270248"/>
            <a:ext cx="2841955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2 · Trip Consideration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1219" y="4270248"/>
            <a:ext cx="77102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Traffic/Leads. Creative: Ubud, Mt. Batur, Uluwatu, Activities &amp; Attractions. Ukur inquiry.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864608"/>
            <a:ext cx="309798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4915" y="4864608"/>
            <a:ext cx="796625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65192"/>
            <a:ext cx="2841955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3 · Conversion-ready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1219" y="4965192"/>
            <a:ext cx="77102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Retargeting/Sales bila tracking siap. Pakai all-in pricing dan inclusions, bukan promo palsu.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806440"/>
            <a:ext cx="10515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4D3A"/>
                </a:solidFill>
                <a:latin typeface="Inter"/>
              </a:rPr>
              <a:t>Campaign naming: TP_[Objective]_[Market]_[Audience]_[CreativeAngle]_[YYYYMM]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TARGET SKILL 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Format iklan yang harus dipelajari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961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D6A62"/>
                </a:solidFill>
                <a:latin typeface="Inter"/>
              </a:rPr>
              <a:t>Tujuannya: naik dari boost content ke Ads Manager dan product discovery ads.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81912"/>
            <a:ext cx="10607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C2603E"/>
                </a:solidFill>
                <a:latin typeface="Inter"/>
              </a:rPr>
              <a:t>Benchmark visual: product card, carousel, story, grid. Gaya Trivpass tetap calm: all-in price, verified driver, tanpa urgency palsu.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93392"/>
            <a:ext cx="3761841" cy="581297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769" y="1993392"/>
            <a:ext cx="7302398" cy="581297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93976"/>
            <a:ext cx="3505809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B"/>
                </a:solidFill>
                <a:latin typeface="Inter"/>
              </a:rPr>
              <a:t>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073" y="2093976"/>
            <a:ext cx="7046366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D1D1B"/>
                </a:solidFill>
                <a:latin typeface="Inter"/>
              </a:rPr>
              <a:t>Target kemampuan 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574689"/>
            <a:ext cx="3761841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769" y="2574689"/>
            <a:ext cx="7302398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675273"/>
            <a:ext cx="3505809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TPD-1 Tour Carousel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5073" y="2675273"/>
            <a:ext cx="7046366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Manual Carousel Ads. Tiap card bisa membawa produk/link berbeda: Mt. Batur, Uluwatu, Waterbom, ATV.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55986"/>
            <a:ext cx="3761841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769" y="3155986"/>
            <a:ext cx="7302398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56570"/>
            <a:ext cx="3505809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TPD-2 Single Product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073" y="3256570"/>
            <a:ext cx="7046366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Story/Reels vertical 9:16 untuk 1 produk. Foto/video kuat, harga all-in, CTA Trivpass.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737283"/>
            <a:ext cx="3761841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8769" y="3737283"/>
            <a:ext cx="7302398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837867"/>
            <a:ext cx="3505809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TPD-3 Activities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5073" y="3837867"/>
            <a:ext cx="7046366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Collection-style grid untuk beberapa produk. Cocok untuk Activities &amp; Attractions dan family trips.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318580"/>
            <a:ext cx="3761841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8769" y="4318580"/>
            <a:ext cx="7302398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419164"/>
            <a:ext cx="3505809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TPD-4 Website Traffic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5073" y="4419164"/>
            <a:ext cx="7046366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Ads direct ke website: halaman produk, kategori, atau landing page campaign. Fokus landing page views.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899877"/>
            <a:ext cx="3761841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8769" y="4899877"/>
            <a:ext cx="7302398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000461"/>
            <a:ext cx="3505809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TPD-5 Retargeting Reminder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5073" y="5000461"/>
            <a:ext cx="7046366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Ads untuk IG engagers, website visitors, atau cart/checkout abandoners bila tracking siap.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481174"/>
            <a:ext cx="3761841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8769" y="5481174"/>
            <a:ext cx="7302398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581758"/>
            <a:ext cx="3505809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Catalog readiness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5073" y="5581758"/>
            <a:ext cx="7046366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Belajar struktur catalog/product feed: nama, harga, gambar, URL, kategori, availability.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DI MANA FORMAT INI 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Mapping ke Meta Ads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961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D6A62"/>
                </a:solidFill>
                <a:latin typeface="Inter"/>
              </a:rPr>
              <a:t>Nama menu Meta bisa berubah, tapi konsepnya tetap: objective -&gt; placement -&gt; format -&gt; destination.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93392"/>
            <a:ext cx="3540556" cy="581297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07484" y="1993392"/>
            <a:ext cx="7523683" cy="581297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93976"/>
            <a:ext cx="3284524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B"/>
                </a:solidFill>
                <a:latin typeface="Inter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3788" y="2093976"/>
            <a:ext cx="7267651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D1D1B"/>
                </a:solidFill>
                <a:latin typeface="Inter"/>
              </a:rPr>
              <a:t>Di Meta Ads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74689"/>
            <a:ext cx="3540556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07484" y="2574689"/>
            <a:ext cx="7523683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675273"/>
            <a:ext cx="3284524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TPD-1 Tour Carousel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3788" y="2675273"/>
            <a:ext cx="7267651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Campaign: Traffic/Leads/Sales. Ad level: Format = Carousel. Isi card manual; tiap card bisa punya URL berbeda.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155986"/>
            <a:ext cx="3540556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07484" y="3155986"/>
            <a:ext cx="7523683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56570"/>
            <a:ext cx="3284524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TPD-2 Single Product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3788" y="3256570"/>
            <a:ext cx="7267651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Ad set: pilih placement Instagram Stories/Reels. Ad level: Single image/video atau carousel vertical 9:16.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737283"/>
            <a:ext cx="3540556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07484" y="3737283"/>
            <a:ext cx="7523683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37867"/>
            <a:ext cx="3284524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TPD-3 Activities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3788" y="3837867"/>
            <a:ext cx="7267651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Ad level: Collection, atau Sales + Catalog/Product Set. Cocok untuk membuka katalog/Instant Experience.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318580"/>
            <a:ext cx="3540556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07484" y="4318580"/>
            <a:ext cx="7523683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419164"/>
            <a:ext cx="3284524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TPD-4 Website Traffic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3788" y="4419164"/>
            <a:ext cx="7267651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Campaign: Traffic atau Sales. Conversion location: Website. Destination: product page, category page, atau checkout-ready landing page.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899877"/>
            <a:ext cx="3540556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07484" y="4899877"/>
            <a:ext cx="7523683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000461"/>
            <a:ext cx="3284524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TPD-5 Retargeting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3788" y="5000461"/>
            <a:ext cx="7267651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Ad set: Custom Audience. Contoh: IG engagers, website visitors, cart/checkout abandoners.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481174"/>
            <a:ext cx="3540556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07484" y="5481174"/>
            <a:ext cx="7523683" cy="581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581758"/>
            <a:ext cx="3284524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Catalog readiness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3788" y="5581758"/>
            <a:ext cx="7267651" cy="434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Commerce Manager / Business assets: buat Catalog, product feed, product set. Dipakai untuk Advantage+ catalog ads.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VISUAL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Referensi GetYourGuide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8961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D6A62"/>
                </a:solidFill>
                <a:latin typeface="Inter"/>
              </a:rPr>
              <a:t>Pakai ini untuk membaca struktur ads, bukan untuk meniru gaya copy atau urgency-nya.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29968"/>
            <a:ext cx="11064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etyourguide-carousel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14" y="2139696"/>
            <a:ext cx="545826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11680" y="2167128"/>
            <a:ext cx="10058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C2603E"/>
                </a:solidFill>
                <a:latin typeface="Inter"/>
              </a:rPr>
              <a:t>CONTOH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86584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1F4D3A"/>
                </a:solidFill>
                <a:latin typeface="Inter"/>
              </a:rPr>
              <a:t>Feed carousel / product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304288"/>
            <a:ext cx="61264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0" i="0">
                <a:solidFill>
                  <a:srgbClr val="6D6A62"/>
                </a:solidFill>
                <a:latin typeface="Inter"/>
              </a:rPr>
              <a:t>Banyak kartu produk. Setiap card bisa membawa link berbeda ke halaman produk.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73552"/>
            <a:ext cx="11064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etyourguide-story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72" y="3383280"/>
            <a:ext cx="408511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1680" y="3410712"/>
            <a:ext cx="10058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C2603E"/>
                </a:solidFill>
                <a:latin typeface="Inter"/>
              </a:rPr>
              <a:t>CONTOH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630168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1F4D3A"/>
                </a:solidFill>
                <a:latin typeface="Inter"/>
              </a:rPr>
              <a:t>Story single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547872"/>
            <a:ext cx="61264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0" i="0">
                <a:solidFill>
                  <a:srgbClr val="6D6A62"/>
                </a:solidFill>
                <a:latin typeface="Inter"/>
              </a:rPr>
              <a:t>Satu produk ditonjolkan dalam format 9:16. Cocok untuk tour atau attraction hero.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17136"/>
            <a:ext cx="11064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etyourguide-story-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21" y="4626864"/>
            <a:ext cx="337413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11680" y="4654296"/>
            <a:ext cx="10058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C2603E"/>
                </a:solidFill>
                <a:latin typeface="Inter"/>
              </a:rPr>
              <a:t>CONTOH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873752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1F4D3A"/>
                </a:solidFill>
                <a:latin typeface="Inter"/>
              </a:rPr>
              <a:t>Story grid / 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4791456"/>
            <a:ext cx="61264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0" i="0">
                <a:solidFill>
                  <a:srgbClr val="6D6A62"/>
                </a:solidFill>
                <a:latin typeface="Inter"/>
              </a:rPr>
              <a:t>Beberapa produk ditampilkan sebagai grid. Cocok untuk Activities &amp; Attractions.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797296"/>
            <a:ext cx="11064240" cy="329184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897880"/>
            <a:ext cx="10561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C2603E"/>
                </a:solidFill>
                <a:latin typeface="Inter"/>
              </a:rPr>
              <a:t>Adaptasi Trivpass: all-in price, verified/optional driver, rute jelas, CTA Trivpass, tanpa urgency palsu.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TARGET KONTEN BULANAN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Output minimum yang harus dipenuhi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93392"/>
            <a:ext cx="3761841" cy="508635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8769" y="1993392"/>
            <a:ext cx="7302398" cy="508635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B"/>
                </a:solidFill>
                <a:latin typeface="Inter"/>
              </a:rPr>
              <a:t>Kategori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073" y="2093976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D1D1B"/>
                </a:solidFill>
                <a:latin typeface="Inter"/>
              </a:rPr>
              <a:t>Target &amp; tujuan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02027"/>
            <a:ext cx="3761841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769" y="2502027"/>
            <a:ext cx="7302398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602611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Feed/Reel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073" y="2602611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12 konten per bulan. Campuran edukasi, trust, produk, FAQ.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10662"/>
            <a:ext cx="3761841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8769" y="3010662"/>
            <a:ext cx="7302398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11246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Story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5073" y="3111246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8-12 set per bulan. Poll, FAQ, behind-the-scenes, repost, trip prompt.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519297"/>
            <a:ext cx="3761841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8769" y="3519297"/>
            <a:ext cx="7302398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619881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Bali Travel 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073" y="3619881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4 konten. Target: saves dan shares.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027932"/>
            <a:ext cx="3761841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8769" y="4027932"/>
            <a:ext cx="7302398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128516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Trust Building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5073" y="4128516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3 konten. Target: komentar/DM yang menunjukkan rasa percaya.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6567"/>
            <a:ext cx="3761841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8769" y="4536567"/>
            <a:ext cx="7302398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637151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Tour Packages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5073" y="4637151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2 konten. Target: itinerary views atau inquiry.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045202"/>
            <a:ext cx="3761841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8769" y="5045202"/>
            <a:ext cx="7302398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45786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Activities &amp; Attractions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5073" y="5145786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2 konten. Target: clicks, saves, atau DM.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553837"/>
            <a:ext cx="3761841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8769" y="5553837"/>
            <a:ext cx="7302398" cy="50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654421"/>
            <a:ext cx="3505809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4D3A"/>
                </a:solidFill>
                <a:latin typeface="Inter"/>
              </a:rPr>
              <a:t>Brand/FAQ/BTS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5073" y="5654421"/>
            <a:ext cx="7046366" cy="3623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D6A62"/>
                </a:solidFill>
                <a:latin typeface="Inter"/>
              </a:rPr>
              <a:t>1-2 konten. Target: membuat Trivpass mudah dipahami.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INDIKATOR BULANAN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Konten dan ads dinilai per bulan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57400"/>
            <a:ext cx="52578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Organic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42616"/>
            <a:ext cx="4818888" cy="1773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Jumlah konten tayang vs rencana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Top 3 konten: saves, shares, reach, engagement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DM/comment inquiry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Pertanyaan traveler yang berulang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Konten lemah + pelajaran bulan depan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057400"/>
            <a:ext cx="52578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222199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Meta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642616"/>
            <a:ext cx="4818888" cy="1773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Total spend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Reach, clicks, landing page views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CPC / cost per landing page view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Website inquiry / checkout signal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Cost per inquiry atau checkout start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Creative, audience, dan format terbaik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074920"/>
            <a:ext cx="11064240" cy="621792"/>
          </a:xfrm>
          <a:prstGeom prst="rect">
            <a:avLst/>
          </a:prstGeom>
          <a:solidFill>
            <a:srgbClr val="F3EEE5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5248656"/>
            <a:ext cx="10561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4D3A"/>
                </a:solidFill>
                <a:latin typeface="Inter"/>
              </a:rPr>
              <a:t>Jangan mengejar viral kosong. Untuk Trivpass, indikator sehat adalah trust signal + inquiry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SEBELUM TAYANG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Yang wajib approve Owner dulu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57400"/>
            <a:ext cx="5257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Harga &amp; angka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42616"/>
            <a:ext cx="48188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Semua harga, diskon, rating, budget ads, dan spend. Jangan pernah mengarang figure.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057400"/>
            <a:ext cx="5257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222199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Klaim &amp; janji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642616"/>
            <a:ext cx="48188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Driver, refund, partner, ketersediaan, tracking, dan campaign promise harus bisa dibuktikan.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611880"/>
            <a:ext cx="5257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77647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Konten sensitif budaya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197096"/>
            <a:ext cx="48188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Upacara, istilah Bali, foto tempat sakral. Hormat sebagai tamu, bukan penonton.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611880"/>
            <a:ext cx="5257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3776472"/>
            <a:ext cx="48188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Apa pun yang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4197096"/>
            <a:ext cx="481888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Produk baru, identitas driver, partner, tanggal event, landing page baru, campaign baru.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58384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2603E"/>
                </a:solidFill>
                <a:latin typeface="Inter"/>
              </a:rPr>
              <a:t>Aturan emas: jangan pernah mengarang foto, harga, driver, partner, ketersediaan event, tanggal, atau hasil ads. Tandai yang belum pasti - jangan tebak.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114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603E"/>
                </a:solidFill>
                <a:latin typeface="Inter"/>
              </a:rPr>
              <a:t>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D1D1B"/>
                </a:solidFill>
                <a:latin typeface="Fraunces"/>
              </a:rPr>
              <a:t>Kalau ragu, ingat enam ini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8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34290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9456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17627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Trust dulu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596896"/>
            <a:ext cx="2660904" cy="475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Mayoritas konten membangun percaya: anti-scam, harga jelas, booking jalan.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4290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9456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17627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Spesifik &gt; kata sifat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596896"/>
            <a:ext cx="2660904" cy="475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Angka, nama, jam. Hapus kata sifat yang tak bisa jadi detail.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1311" y="2011680"/>
            <a:ext cx="34290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9" y="217627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3 warna, no 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2596896"/>
            <a:ext cx="2660904" cy="475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Off-white, jungle-green, terracotta. Tanpa wajah, tanpa gloss.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11880"/>
            <a:ext cx="34290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79476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77647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CTA yang benar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197096"/>
            <a:ext cx="2660904" cy="475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Secure Your Driver &amp; Tickets. Tidak pernah Book now di copy.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611880"/>
            <a:ext cx="34290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79476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377647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Ads perlu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4197096"/>
            <a:ext cx="2660904" cy="475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Budget, audience, klaim, creative, dan landing page tidak jalan tanpa izin.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11311" y="3611880"/>
            <a:ext cx="34290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79476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603E"/>
                </a:solidFill>
                <a:latin typeface="Inte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39" y="3776472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1D1B"/>
                </a:solidFill>
                <a:latin typeface="Inter"/>
              </a:rPr>
              <a:t>Jangan mengarang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39" y="4197096"/>
            <a:ext cx="2660904" cy="475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6D6A62"/>
                </a:solidFill>
                <a:latin typeface="Inter"/>
              </a:defRPr>
            </a:pPr>
            <a:r>
              <a:t>Harga, driver, partner, tanggal, event, hasil ads - approve dulu ke Owner.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15000"/>
            <a:ext cx="10515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D3A"/>
                </a:solidFill>
                <a:latin typeface="Fraunces"/>
              </a:rPr>
              <a:t>Real drivers. Real prices. No surprises.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4846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Trivpass · Onboarding Admin Social Media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D6A62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